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4ECDC4"/>
                </a:solidFill>
              </a:defRPr>
            </a:pPr>
            <a:r>
              <a:t>Uçtan Uca Yapay Zeka Projesi: Veriden Tahmine</a:t>
            </a:r>
          </a:p>
          <a:p>
            <a:pPr>
              <a:spcAft>
                <a:spcPts val="1600"/>
              </a:spcAft>
              <a:defRPr sz="3000" b="1">
                <a:solidFill>
                  <a:srgbClr val="FFFFFF"/>
                </a:solidFill>
              </a:defRPr>
            </a:pPr>
            <a:r>
              <a:t>Müşteri Terk (Churn) Tahmini ve Karar Destek Sistemi</a:t>
            </a:r>
          </a:p>
          <a:p>
            <a:pPr>
              <a:spcAft>
                <a:spcPts val="3600"/>
              </a:spcAft>
              <a:defRPr sz="1400">
                <a:solidFill>
                  <a:srgbClr val="CBD5E1"/>
                </a:solidFill>
              </a:defRPr>
            </a:pPr>
            <a:r>
              <a:t>Gerçek bir telekomünikasyon veri seti üzerinden problem tanımından modelleme,</a:t>
            </a:r>
            <a:br/>
            <a:r>
              <a:t>değerlendirme, açıklanabilir yapay zeka (SHAP) ve interaktif web uygulamasına uzanan tam kapsamlı çalışma.</a:t>
            </a:r>
          </a:p>
          <a:p>
            <a:pPr>
              <a:defRPr sz="1300" b="1">
                <a:solidFill>
                  <a:srgbClr val="94A3B8"/>
                </a:solidFill>
              </a:defRPr>
            </a:pPr>
            <a:r>
              <a:t>Hazırlayan: Hazal  |  Program: Basitleştirilmiş Python — Proje Envanteri  |  Tarih: Ekim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ECDC4"/>
                </a:solidFill>
              </a:defRPr>
            </a:pPr>
            <a:r>
              <a:t>UÇTAN UCA YAPAY ZEKA PROJESİ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Tanımı ve Veri Seti İncelemesi (Aşama 1 &amp;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📌 Proje Tanım Formu &amp; Gerekçe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Somut Tahmin Sorusu: </a:t>
            </a:r>
            <a:r>
              <a:rPr sz="1300">
                <a:solidFill>
                  <a:srgbClr val="CBD5E1"/>
                </a:solidFill>
              </a:rPr>
              <a:t>Müşteri demografisi, abonelik süresi ve hizmet bilgilerinden terk (churn) durumunu tahmin et.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Problem Türü: </a:t>
            </a:r>
            <a:r>
              <a:rPr sz="1300">
                <a:solidFill>
                  <a:srgbClr val="CBD5E1"/>
                </a:solidFill>
              </a:rPr>
              <a:t>İkili Sınıflandırma (Binary Classification: Churn = 1 / 0).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Hedef Değişken (y): </a:t>
            </a:r>
            <a:r>
              <a:rPr sz="1300">
                <a:solidFill>
                  <a:srgbClr val="CBD5E1"/>
                </a:solidFill>
              </a:rPr>
              <a:t>Churn (Ayrıldı: %26.5, Kaldı: %73.5).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İş Değeri / Gerekçe: </a:t>
            </a:r>
            <a:r>
              <a:rPr sz="1300">
                <a:solidFill>
                  <a:srgbClr val="CBD5E1"/>
                </a:solidFill>
              </a:rPr>
              <a:t>Yeni müşteri kazanma maliyeti, mevcut müşteriyi tutmaktan 5 ila 25 kat daha pahalıdır. Terk riski erken tespit edilerek proaktif elde tutma teklifleri sunulur.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📊 Veri Özeti &amp; Temizleme Adımları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Veri Kaynağı &amp; Boyut: </a:t>
            </a:r>
            <a:r>
              <a:rPr sz="1300">
                <a:solidFill>
                  <a:srgbClr val="CBD5E1"/>
                </a:solidFill>
              </a:rPr>
              <a:t>IBM Telco Churn — 7.043 müşteri satırı, 21 sütun (yönergedeki min. 20 satırın 350 katı).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Eksik / Hatalı Veri Tespiti: </a:t>
            </a:r>
            <a:r>
              <a:rPr sz="1300">
                <a:solidFill>
                  <a:srgbClr val="CBD5E1"/>
                </a:solidFill>
              </a:rPr>
              <a:t>TotalCharges sütununda tenure=0 olan 11 yeni müşteride boşluk karakteri (' ') tespit edildi.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Temizleme İşlemleri: </a:t>
            </a:r>
            <a:r>
              <a:rPr sz="1300">
                <a:solidFill>
                  <a:srgbClr val="CBD5E1"/>
                </a:solidFill>
              </a:rPr>
              <a:t>TotalCharges sayısal tipe çevrilip boşluklar 0.0 ile dolduruldu (fillna); anlamsız 'customerID' sütunu çıkarıldı; Churn hedefi 0 ve 1 olarak kodlandı.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Özellik Mühendisliği (8 Yeni): </a:t>
            </a:r>
            <a:r>
              <a:rPr sz="1300">
                <a:solidFill>
                  <a:srgbClr val="CBD5E1"/>
                </a:solidFill>
              </a:rPr>
              <a:t>AvgMonthlyCharge, PriceDiscrepancy (fatura şoku), NumServices, UnprotectedInternet, TenureCohort, ContractScore, HasAutoPayment.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ECDC4"/>
                </a:solidFill>
              </a:defRPr>
            </a:pPr>
            <a:r>
              <a:t>UÇTAN UCA YAPAY ZEKA PROJESİ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Keşifçi Veri Analizi (EDA) ve Belirleyici Faktörler (Aşama 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480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🔍 Temel Keşif Bulguları (3-5 Madde)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1. Sözleşme Türü (En Güçlü Etken): </a:t>
            </a:r>
            <a:r>
              <a:rPr sz="1300">
                <a:solidFill>
                  <a:srgbClr val="CBD5E1"/>
                </a:solidFill>
              </a:rPr>
              <a:t>Aylık sözleşmeli müşterilerde terk oranı %42.7 iken, 1 yıllıkta %11.3'e, 2 yıllıkta %2.8'e kadar gerilemektedir.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2. İlk Yıl Kırılganlığı: </a:t>
            </a:r>
            <a:r>
              <a:rPr sz="1300">
                <a:solidFill>
                  <a:srgbClr val="CBD5E1"/>
                </a:solidFill>
              </a:rPr>
              <a:t>Ayrılan müşterilerin %53'ü ilk 12 ay içinde (TenureCohort = 'New') hizmeti bırakmaktadır.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3. Desteksiz İnternet Riski: </a:t>
            </a:r>
            <a:r>
              <a:rPr sz="1300">
                <a:solidFill>
                  <a:srgbClr val="CBD5E1"/>
                </a:solidFill>
              </a:rPr>
              <a:t>Teknik destek ve güvenlik paketi olmayan internet abonelerinde terk oranı %49.0 ile kritik seviyededir.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4. Ödeme Yöntemi Etkisi: </a:t>
            </a:r>
            <a:r>
              <a:rPr sz="1300">
                <a:solidFill>
                  <a:srgbClr val="CBD5E1"/>
                </a:solidFill>
              </a:rPr>
              <a:t>Elektronik çek ile ödeyenlerde terk %45.3 iken, otomatik ödeme kullananlarda yalnızca %16.0'dır.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5. Fatura Tutarı Farkı: </a:t>
            </a:r>
            <a:r>
              <a:rPr sz="1300">
                <a:solidFill>
                  <a:srgbClr val="CBD5E1"/>
                </a:solidFill>
              </a:rPr>
              <a:t>Ayrılan müşterilerin medyan faturası $79.65 iken, kalanlarda $64.43 seviyesindedir.</a:t>
            </a:r>
          </a:p>
        </p:txBody>
      </p:sp>
      <p:pic>
        <p:nvPicPr>
          <p:cNvPr id="7" name="Picture 6" descr="contract_vs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394960" cy="32085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ECDC4"/>
                </a:solidFill>
              </a:defRPr>
            </a:pPr>
            <a:r>
              <a:t>UÇTAN UCA YAPAY ZEKA PROJESİ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Model Eğitimi, Karşılaştırma ve Başarı Ölçümü (Aşama 4 &amp; 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🧠 Model Karşılaştırma Sonuçları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Veri Bölünmesi: </a:t>
            </a:r>
            <a:r>
              <a:rPr sz="1300">
                <a:solidFill>
                  <a:srgbClr val="CBD5E1"/>
                </a:solidFill>
              </a:rPr>
              <a:t>Eğitim: 5.634 satır (%80) | Test: 1.409 satır (%20) - Stratified split.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Model Seçim Gerekçesi: </a:t>
            </a:r>
            <a:r>
              <a:rPr sz="1300">
                <a:solidFill>
                  <a:srgbClr val="CBD5E1"/>
                </a:solidFill>
              </a:rPr>
              <a:t>Sınıflandırma problemi olduğu için karar ağacı tabanlı ve dengeli ağırlıklı 5 algoritma karşılaştırıldı.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Şampiyon Model: </a:t>
            </a:r>
            <a:r>
              <a:rPr sz="1300">
                <a:solidFill>
                  <a:srgbClr val="CBD5E1"/>
                </a:solidFill>
              </a:rPr>
              <a:t>Random Forest (Tuned) — 5-Katlı Çapraz Doğrulama F1: 0.637 ile en kararlı ve genellenebilir model seçildi.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Test Başarısı: </a:t>
            </a:r>
            <a:r>
              <a:rPr sz="1300">
                <a:solidFill>
                  <a:srgbClr val="CBD5E1"/>
                </a:solidFill>
              </a:rPr>
              <a:t>ROC-AUC: 0.842 | F1-Score: 0.628 | Recall: %74.9 | Accuracy: %76.4.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Aşırı Öğrenme Kontrolü: </a:t>
            </a:r>
            <a:r>
              <a:rPr sz="1300">
                <a:solidFill>
                  <a:srgbClr val="CBD5E1"/>
                </a:solidFill>
              </a:rPr>
              <a:t>Ham modelde %21.2 olan train/test doğruluk farkı, max_depth=8 kısıtlamasıyla %4.8'e düşürülerek ezberleme önlendi.</a:t>
            </a:r>
          </a:p>
        </p:txBody>
      </p:sp>
      <p:pic>
        <p:nvPicPr>
          <p:cNvPr id="7" name="Picture 6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39575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ECDC4"/>
                </a:solidFill>
              </a:defRPr>
            </a:pPr>
            <a:r>
              <a:t>UÇTAN UCA YAPAY ZEKA PROJESİ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Akıllı Tahmin Aracı ve Stratejik Çıkarımlar (Aşama 6 &amp; 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🚀 Geliştirilen Çıktılar &amp; Aksiyon Planı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Konsol Tahmin Aracı (tahmin_et): </a:t>
            </a:r>
            <a:r>
              <a:rPr sz="1300">
                <a:solidFill>
                  <a:srgbClr val="CBD5E1"/>
                </a:solidFill>
              </a:rPr>
              <a:t>Kullanıcıdan interaktif girdi alıp anında terk olasılığını ve risk derecesini anlamlı f-string cümleleriyle üreten çalışan CLI fonksiyonu.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Streamlit Web Uygulaması: </a:t>
            </a:r>
            <a:r>
              <a:rPr sz="1300">
                <a:solidFill>
                  <a:srgbClr val="CBD5E1"/>
                </a:solidFill>
              </a:rPr>
              <a:t>Müşteri parametrelerinin dinamik girilebildiği, 'What-If' senaryo simülasyonu ve reçeteli aksiyon önerisi sunan modern karanlık tema web paneli.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Stratejik Öneri 1 (Sözleşme): </a:t>
            </a:r>
            <a:r>
              <a:rPr sz="1300">
                <a:solidFill>
                  <a:srgbClr val="CBD5E1"/>
                </a:solidFill>
              </a:rPr>
              <a:t>Aylık sözleşmedeki yeni müşterilere ilk 90 günde yıllık sözleşmeye geçiş için %15 indirim sunulmalıdır.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Stratejik Öneri 2 (Destek Paketi): </a:t>
            </a:r>
            <a:r>
              <a:rPr sz="1300">
                <a:solidFill>
                  <a:srgbClr val="CBD5E1"/>
                </a:solidFill>
              </a:rPr>
              <a:t>Fiber internet müşterilerine ücretsiz 3 aylık güvenlik ve teknik destek paketi tanımlanmalıdır.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4ECDC4"/>
                </a:solidFill>
              </a:rPr>
              <a:t>Stratejik Öneri 3 (Otomatik Ödeme): </a:t>
            </a:r>
            <a:r>
              <a:rPr sz="1300">
                <a:solidFill>
                  <a:srgbClr val="CBD5E1"/>
                </a:solidFill>
              </a:rPr>
              <a:t>Elektronik çekten otomatik ödemeye geçişe $10 fatura indirimi teşviki verilmelidir.</a:t>
            </a:r>
          </a:p>
        </p:txBody>
      </p:sp>
      <p:pic>
        <p:nvPicPr>
          <p:cNvPr id="7" name="Picture 6" descr="ap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120640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